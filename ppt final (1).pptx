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-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Daily Gaming Hours vs Avg GPA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GPA</c:v>
                </c:pt>
              </c:strCache>
            </c:strRef>
          </c:tx>
          <c:spPr>
            <a:solidFill>
              <a:srgbClr val="5B3FE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B2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&lt;1 hr</c:v>
                </c:pt>
                <c:pt idx="1">
                  <c:v>1-2 hrs</c:v>
                </c:pt>
                <c:pt idx="2">
                  <c:v>2-4 hrs</c:v>
                </c:pt>
                <c:pt idx="3">
                  <c:v>4-6 hrs</c:v>
                </c:pt>
                <c:pt idx="4">
                  <c:v>6+ hrs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3.6</c:v>
                </c:pt>
                <c:pt idx="1">
                  <c:v>3.5</c:v>
                </c:pt>
                <c:pt idx="2">
                  <c:v>3.2</c:v>
                </c:pt>
                <c:pt idx="3">
                  <c:v>2.8</c:v>
                </c:pt>
                <c:pt idx="4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76-4DFC-ACB6-3DDD6CE2D2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Student Gamer Type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Gamer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D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6E-41E9-AA95-AE1D88839368}"/>
              </c:ext>
            </c:extLst>
          </c:dPt>
          <c:dPt>
            <c:idx val="1"/>
            <c:bubble3D val="0"/>
            <c:spPr>
              <a:solidFill>
                <a:srgbClr val="5B3F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6E-41E9-AA95-AE1D88839368}"/>
              </c:ext>
            </c:extLst>
          </c:dPt>
          <c:dPt>
            <c:idx val="2"/>
            <c:bubble3D val="0"/>
            <c:spPr>
              <a:solidFill>
                <a:srgbClr val="E85D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6E-41E9-AA95-AE1D88839368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1B2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D6E-41E9-AA95-AE1D88839368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1B2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ED6E-41E9-AA95-AE1D88839368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B1B2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ED6E-41E9-AA95-AE1D8883936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Casual (&lt;2hr)</c:v>
                </c:pt>
                <c:pt idx="1">
                  <c:v>Moderate (2-4hr)</c:v>
                </c:pt>
                <c:pt idx="2">
                  <c:v>Heavy (4hr+)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D6E-41E9-AA95-AE1D88839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362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5B3FE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3DDBD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463040"/>
            <a:ext cx="1371600" cy="13716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655064"/>
            <a:ext cx="987552" cy="987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GAMING vs ACADEMIC PERFORMANCE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4069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look at how gaming habits relate to student outcomes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94960" y="4846320"/>
            <a:ext cx="1371600" cy="36576"/>
          </a:xfrm>
          <a:prstGeom prst="rect">
            <a:avLst/>
          </a:prstGeom>
          <a:solidFill>
            <a:srgbClr val="B6FF3C"/>
          </a:solidFill>
          <a:ln/>
        </p:spPr>
      </p:sp>
      <p:sp>
        <p:nvSpPr>
          <p:cNvPr id="9" name="Text 6"/>
          <p:cNvSpPr/>
          <p:nvPr/>
        </p:nvSpPr>
        <p:spPr>
          <a:xfrm>
            <a:off x="1371600" y="58064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Heena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C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B.Tech (AI &amp; ML)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Company Profile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4103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31720" y="2331720"/>
            <a:ext cx="1371600" cy="13716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2523744"/>
            <a:ext cx="987552" cy="987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O7 Services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Solutions &amp; Digital Services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48840" y="4937760"/>
            <a:ext cx="822960" cy="27432"/>
          </a:xfrm>
          <a:prstGeom prst="rect">
            <a:avLst/>
          </a:prstGeom>
          <a:solidFill>
            <a:srgbClr val="B6FF3C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 </a:t>
            </a:r>
            <a:r>
              <a:rPr lang="en-US" sz="12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0" y="18288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Specializations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029200" y="2423160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609" y="249356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24231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029200" y="3044952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9609" y="31153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15000" y="3044952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029200" y="3666744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9609" y="3737153"/>
            <a:ext cx="362102" cy="3621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15000" y="3666744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Software Development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029200" y="4288536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9609" y="4358945"/>
            <a:ext cx="362102" cy="3621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15000" y="428853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029200" y="4910328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9609" y="4980737"/>
            <a:ext cx="362102" cy="3621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715000" y="491032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Services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5029200" y="5532120"/>
            <a:ext cx="502920" cy="5029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9609" y="5602529"/>
            <a:ext cx="362102" cy="36210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15000" y="55321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Services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IT solutions supporting the entire business — from consulting to system development, deployment, quality assurance, and ongoing support.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788920"/>
            <a:ext cx="731520" cy="7315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313" y="289133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7033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Consulting to System Development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" y="429768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guidance from initial strategy through full system build.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5146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7972" y="2788920"/>
            <a:ext cx="731520" cy="7315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385" y="2891333"/>
            <a:ext cx="526694" cy="5266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7033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75304" y="429768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reliable rollout of solutions into production environments.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5146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10044" y="2788920"/>
            <a:ext cx="731520" cy="7315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457" y="2891333"/>
            <a:ext cx="526694" cy="5266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37033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Quality Assurance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37376" y="429768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testing to ensure stability, security, and performance.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34856" y="251460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72116" y="2788920"/>
            <a:ext cx="731520" cy="7315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4529" y="2891333"/>
            <a:ext cx="526694" cy="5266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7033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24x7 Support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Round-the-clock assistance whenever business needs it.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E1852"/>
          </a:solidFill>
          <a:ln/>
        </p:spPr>
      </p:sp>
      <p:sp>
        <p:nvSpPr>
          <p:cNvPr id="26" name="Shape 20"/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050" y="5682082"/>
            <a:ext cx="395021" cy="39502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5605272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Jalandhar    </a:t>
            </a:r>
            <a:r>
              <a:rPr lang="en-US" sz="1350" b="1" dirty="0">
                <a:solidFill>
                  <a:srgbClr val="B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Office: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Hoshiarpur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Index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01368"/>
            <a:ext cx="347472" cy="347472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746504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13432"/>
            <a:ext cx="347472" cy="347472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258568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25496"/>
            <a:ext cx="347472" cy="347472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770632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347472" cy="347472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3282696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Features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849624"/>
            <a:ext cx="347472" cy="347472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79476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Requirements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361688"/>
            <a:ext cx="347472" cy="347472"/>
          </a:xfrm>
          <a:prstGeom prst="ellipse">
            <a:avLst/>
          </a:prstGeom>
          <a:solidFill>
            <a:srgbClr val="5B3FE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4306824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1801368"/>
            <a:ext cx="347472" cy="347472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84848" y="1746504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Visualizations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313432"/>
            <a:ext cx="347472" cy="347472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84848" y="2258568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2825496"/>
            <a:ext cx="347472" cy="347472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84848" y="2770632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9360" y="3337560"/>
            <a:ext cx="347472" cy="347472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84848" y="3282696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09360" y="3849624"/>
            <a:ext cx="347472" cy="347472"/>
          </a:xfrm>
          <a:prstGeom prst="ellipse">
            <a:avLst/>
          </a:prstGeom>
          <a:solidFill>
            <a:srgbClr val="3DDBD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849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84848" y="3794760"/>
            <a:ext cx="4800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 STATEMENTS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 Statements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394" y="240121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337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Unclear Impact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educators lack solid data on how gaming hours actually affect grades.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2252" y="2286000"/>
            <a:ext cx="822960" cy="8229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466" y="240121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337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Time Trade-offs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93592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gaming may silently eat into study time and sleep without students noticing.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4324" y="2286000"/>
            <a:ext cx="822960" cy="8229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538" y="240121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337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Clear Threshold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55664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widely known 'safe' amount of daily gaming for students to follow.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6396" y="2286000"/>
            <a:ext cx="822960" cy="8229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610" y="2401214"/>
            <a:ext cx="592531" cy="59253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9448" y="3337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One-Size Assumptions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17736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often ignores differences between casual, moderate, and heavy gamers.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is one of the most popular activities among students worldwide. As screen time rises, parents, teachers, and researchers increasingly ask the same question: is gaming helping or hurting academic performance?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83864"/>
            <a:ext cx="128016" cy="128016"/>
          </a:xfrm>
          <a:prstGeom prst="ellipse">
            <a:avLst/>
          </a:prstGeom>
          <a:solidFill>
            <a:srgbClr val="B6FF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355848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games can build problem-solving, reflexes, and focus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050792"/>
            <a:ext cx="128016" cy="128016"/>
          </a:xfrm>
          <a:prstGeom prst="ellipse">
            <a:avLst/>
          </a:prstGeom>
          <a:solidFill>
            <a:srgbClr val="B6FF3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22776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or poorly-timed gaming may reduce study time and sleep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128016" cy="128016"/>
          </a:xfrm>
          <a:prstGeom prst="ellipse">
            <a:avLst/>
          </a:prstGeom>
          <a:solidFill>
            <a:srgbClr val="B6FF3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489704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explores the real relationship using survey and academic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640" y="1554480"/>
            <a:ext cx="4206240" cy="4297680"/>
          </a:xfrm>
          <a:prstGeom prst="rect">
            <a:avLst/>
          </a:prstGeom>
          <a:solidFill>
            <a:srgbClr val="14103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15400" y="1965960"/>
            <a:ext cx="1188720" cy="118872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21" y="2132381"/>
            <a:ext cx="855878" cy="85587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Forces at Play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80960" y="3703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skill-building  vs.  Time &amp; attention trade-offs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394" y="240121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337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Measure the Relationship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correlation between weekly gaming hours and GPA/exam scores.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02252" y="2286000"/>
            <a:ext cx="822960" cy="8229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466" y="240121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337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Study Time Trade-offs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93592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how gaming time impacts hours spent studying and sleeping.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64324" y="2286000"/>
            <a:ext cx="822960" cy="8229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538" y="240121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337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Segment by Behavior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55664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casual, moderate, and heavy gamers across demographics.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96596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6396" y="2286000"/>
            <a:ext cx="822960" cy="8229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610" y="2401214"/>
            <a:ext cx="592531" cy="59253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9448" y="3337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Visualize Trends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17736" y="39319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clear charts that reveal patterns invisible in raw data.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21406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Survey-Based 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46320" y="19659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student responses covering gaming habits, GPA, study time, and sleep.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32836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108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Correlation Analysis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846320" y="31089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 reveal how strongly gaming hours relate to grades.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343400"/>
            <a:ext cx="594360" cy="5943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" y="44266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251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Interactive Visualizations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46320" y="42519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and breakdowns make patterns easy to see at a glance.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3035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486400"/>
            <a:ext cx="594360" cy="5943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" y="556961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3949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Gamer-Type Segmentation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846320" y="539496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Casual, moderate, and heavy gamers are analyzed as distinct groups.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Requirements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" y="20491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18745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 data: gaming hours, GPA, study hours, sleep, demographics.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108960"/>
            <a:ext cx="594360" cy="5943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31921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017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Tools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0560" y="30175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NumPy), Matplotlib/Seaborn or Excel for analysis.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251960"/>
            <a:ext cx="594360" cy="5943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" y="433517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60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Statistical Methods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480560" y="41605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analysis, regression, and group comparisons.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394960"/>
            <a:ext cx="594360" cy="59436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50" y="547817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303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480560" y="53035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de-duplicated data with clear inclusion criteria.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Collection &amp;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Collect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survey responses on gaming hours, GPA, study time, sleep.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971800" y="3154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Clean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2918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handle missing values, fix inconsistent units.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23560" y="3154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43600" y="219456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8076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32918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students into casual / moderate / heavy gamer groups.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95360" y="2194560"/>
            <a:ext cx="2331720" cy="2377440"/>
          </a:xfrm>
          <a:prstGeom prst="roundRect">
            <a:avLst>
              <a:gd name="adj" fmla="val 3137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32520" y="22860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732520" y="28803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Validate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32520" y="329184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outliers and confirm data quality before analysis.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Results &amp; Visualizations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699715" y="1804946"/>
            <a:ext cx="2122998" cy="21866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52115" y="1957347"/>
            <a:ext cx="2122998" cy="222504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5962" y="2234317"/>
            <a:ext cx="1765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</a:t>
            </a:r>
          </a:p>
          <a:p>
            <a:r>
              <a:rPr lang="en-US" dirty="0" smtClean="0"/>
              <a:t>displayed </a:t>
            </a:r>
            <a:r>
              <a:rPr lang="en-US" dirty="0"/>
              <a:t>the data using charts and graphs.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196424" y="1804946"/>
            <a:ext cx="2218414" cy="21866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20386" y="1957346"/>
            <a:ext cx="2146852" cy="2225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572786" y="2289976"/>
            <a:ext cx="16830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2.</a:t>
            </a:r>
          </a:p>
          <a:p>
            <a:r>
              <a:rPr lang="en-US" dirty="0"/>
              <a:t>Compared gaming hours with students' academic performance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88549" y="1804946"/>
            <a:ext cx="2313830" cy="21866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12511" y="1957346"/>
            <a:ext cx="2242268" cy="222504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0456" y="2234317"/>
            <a:ext cx="19719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</a:t>
            </a:r>
          </a:p>
          <a:p>
            <a:r>
              <a:rPr lang="en-US" dirty="0"/>
              <a:t>Identified trends and patterns between gaming and grades.</a:t>
            </a:r>
          </a:p>
          <a:p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8547652" y="1804946"/>
            <a:ext cx="2234317" cy="218369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78240" y="2019632"/>
            <a:ext cx="2194560" cy="216275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69071" y="2289976"/>
            <a:ext cx="18128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</a:t>
            </a:r>
          </a:p>
          <a:p>
            <a:r>
              <a:rPr lang="en-US" dirty="0"/>
              <a:t>Analyzed the positive and negative effects of gaming.</a:t>
            </a:r>
          </a:p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99715" y="4556096"/>
            <a:ext cx="2051436" cy="218660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52115" y="4723074"/>
            <a:ext cx="2051436" cy="218660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113183" y="4898004"/>
            <a:ext cx="14391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5.</a:t>
            </a:r>
          </a:p>
          <a:p>
            <a:r>
              <a:rPr lang="en-US" dirty="0"/>
              <a:t>Presented the findings using clear visualizations.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SCREENSHOTS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Screenshots</a:t>
            </a:r>
            <a:endParaRPr lang="en-US" sz="3400" dirty="0"/>
          </a:p>
        </p:txBody>
      </p:sp>
      <p:sp>
        <p:nvSpPr>
          <p:cNvPr id="17" name="Text 1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975807051"/>
              </p:ext>
            </p:extLst>
          </p:nvPr>
        </p:nvGraphicFramePr>
        <p:xfrm>
          <a:off x="675860" y="1828800"/>
          <a:ext cx="5359179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"/>
          <p:cNvGraphicFramePr/>
          <p:nvPr>
            <p:extLst>
              <p:ext uri="{D42A27DB-BD31-4B8C-83A1-F6EECF244321}">
                <p14:modId xmlns:p14="http://schemas.microsoft.com/office/powerpoint/2010/main" val="4191238850"/>
              </p:ext>
            </p:extLst>
          </p:nvPr>
        </p:nvGraphicFramePr>
        <p:xfrm>
          <a:off x="6309360" y="1828800"/>
          <a:ext cx="530352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3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B2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8928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830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gaming (under 2 hours/day) shows little to no negative effect on academic performance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6700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560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gaming (4+ hours/day) correlates with lower GPA, largely via reduced study and sleep time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44728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33375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itself is not harmful — it's the trade-off in time and routine that matters most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4103A"/>
          </a:solidFill>
          <a:ln/>
        </p:spPr>
      </p:sp>
      <p:sp>
        <p:nvSpPr>
          <p:cNvPr id="14" name="Shape 9"/>
          <p:cNvSpPr/>
          <p:nvPr/>
        </p:nvSpPr>
        <p:spPr>
          <a:xfrm>
            <a:off x="868680" y="4617720"/>
            <a:ext cx="914400" cy="9144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745736"/>
            <a:ext cx="658368" cy="6583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11680" y="4617720"/>
            <a:ext cx="9326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Bottom line: balance, not elimination, is the winning strategy for students who game.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685800" cy="6858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19913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Genre-Level Analysis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46888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game genre (strategy, action, puzzle) affects cognitive vs. distraction impact.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03120"/>
            <a:ext cx="685800" cy="6858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219913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57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Longitudinal Tracking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46888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same students over multiple semesters instead of a single snapshot.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434840"/>
            <a:ext cx="685800" cy="6858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" y="453085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891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Sleep &amp; Wellbeing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480060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deeper wellbeing metrics like sleep quality, stress, and screen time at night.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2062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E1852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434840"/>
            <a:ext cx="685800" cy="6858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453085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891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6FF3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Larger, Diverse Sample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80060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across more schools, age groups, and countries for stronger conclusions.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5B3FE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3DDBD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737360"/>
            <a:ext cx="1371600" cy="1371600"/>
          </a:xfrm>
          <a:prstGeom prst="ellipse">
            <a:avLst/>
          </a:prstGeom>
          <a:solidFill>
            <a:srgbClr val="5B3FE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1929384"/>
            <a:ext cx="987552" cy="9875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DD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858</Words>
  <Application>Microsoft Office PowerPoint</Application>
  <PresentationFormat>Widescreen</PresentationFormat>
  <Paragraphs>184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Schoolbook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Gaming vs Academic Performance</dc:title>
  <dc:subject>PptxGenJS Presentation</dc:subject>
  <dc:creator>Student Project</dc:creator>
  <cp:lastModifiedBy>lenovo</cp:lastModifiedBy>
  <cp:revision>2</cp:revision>
  <dcterms:created xsi:type="dcterms:W3CDTF">2026-07-08T11:44:30Z</dcterms:created>
  <dcterms:modified xsi:type="dcterms:W3CDTF">2026-07-08T11:57:12Z</dcterms:modified>
</cp:coreProperties>
</file>